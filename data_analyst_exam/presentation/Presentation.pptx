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22" r:id="rId5"/>
    <p:sldId id="321" r:id="rId6"/>
    <p:sldId id="317" r:id="rId7"/>
    <p:sldId id="313" r:id="rId8"/>
    <p:sldId id="323" r:id="rId9"/>
    <p:sldId id="316" r:id="rId10"/>
    <p:sldId id="324" r:id="rId11"/>
    <p:sldId id="325" r:id="rId12"/>
    <p:sldId id="315" r:id="rId13"/>
    <p:sldId id="326" r:id="rId14"/>
    <p:sldId id="327" r:id="rId15"/>
    <p:sldId id="328" r:id="rId16"/>
    <p:sldId id="329" r:id="rId17"/>
    <p:sldId id="31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62" autoAdjust="0"/>
    <p:restoredTop sz="95388" autoAdjust="0"/>
  </p:normalViewPr>
  <p:slideViewPr>
    <p:cSldViewPr snapToGrid="0">
      <p:cViewPr varScale="1">
        <p:scale>
          <a:sx n="126" d="100"/>
          <a:sy n="126" d="100"/>
        </p:scale>
        <p:origin x="216" y="224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12/28/25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12/28/25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5185821" cy="5253089"/>
          </a:xfrm>
        </p:spPr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FFFFFF"/>
                </a:solidFill>
                <a:effectLst/>
                <a:latin typeface="system-ui"/>
              </a:rPr>
              <a:t>Data Analyst Professional Practical Exam</a:t>
            </a:r>
            <a:br>
              <a:rPr lang="en-US" b="0" i="0" dirty="0">
                <a:solidFill>
                  <a:srgbClr val="FFFFFF"/>
                </a:solidFill>
                <a:effectLst/>
                <a:latin typeface="system-ui"/>
              </a:rPr>
            </a:br>
            <a:r>
              <a:rPr lang="en-US" b="0" i="0" dirty="0">
                <a:solidFill>
                  <a:srgbClr val="FFFFFF"/>
                </a:solidFill>
                <a:effectLst/>
                <a:latin typeface="system-ui"/>
              </a:rPr>
              <a:t>Presentation</a:t>
            </a:r>
            <a:br>
              <a:rPr lang="en-US" b="0" i="0" dirty="0">
                <a:solidFill>
                  <a:srgbClr val="FFFFFF"/>
                </a:solidFill>
                <a:effectLst/>
                <a:latin typeface="system-ui"/>
              </a:rPr>
            </a:br>
            <a:br>
              <a:rPr lang="en-US" b="0" i="0" dirty="0">
                <a:solidFill>
                  <a:srgbClr val="FFFFFF"/>
                </a:solidFill>
                <a:effectLst/>
                <a:latin typeface="system-ui"/>
              </a:rPr>
            </a:br>
            <a:r>
              <a:rPr lang="en-US" sz="2700" b="0" i="0" dirty="0">
                <a:solidFill>
                  <a:srgbClr val="FFFFFF"/>
                </a:solidFill>
                <a:effectLst/>
                <a:latin typeface="system-ui"/>
              </a:rPr>
              <a:t>Dr. Anoushiravan </a:t>
            </a:r>
            <a:r>
              <a:rPr lang="en-US" sz="2700" b="0" i="0" dirty="0" err="1">
                <a:solidFill>
                  <a:srgbClr val="FFFFFF"/>
                </a:solidFill>
                <a:effectLst/>
                <a:latin typeface="system-ui"/>
              </a:rPr>
              <a:t>zahedi</a:t>
            </a:r>
            <a:endParaRPr lang="en-US" sz="2200" b="0" i="0" dirty="0">
              <a:solidFill>
                <a:srgbClr val="FFFFFF"/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4640418" cy="5407091"/>
          </a:xfrm>
        </p:spPr>
        <p:txBody>
          <a:bodyPr/>
          <a:lstStyle/>
          <a:p>
            <a:r>
              <a:rPr lang="en-US" dirty="0"/>
              <a:t>Pens and Printer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88461" y="737115"/>
            <a:ext cx="4449712" cy="5407091"/>
          </a:xfrm>
        </p:spPr>
        <p:txBody>
          <a:bodyPr/>
          <a:lstStyle/>
          <a:p>
            <a:r>
              <a:rPr lang="en-US" dirty="0"/>
              <a:t>Founded in 1984 and provides high-quality office products</a:t>
            </a:r>
          </a:p>
          <a:p>
            <a:r>
              <a:rPr lang="en-US" dirty="0"/>
              <a:t>New Products</a:t>
            </a:r>
          </a:p>
          <a:p>
            <a:r>
              <a:rPr lang="en-US" dirty="0"/>
              <a:t>Sales Methods</a:t>
            </a:r>
          </a:p>
          <a:p>
            <a:pPr lvl="1"/>
            <a:r>
              <a:rPr lang="en-US" dirty="0"/>
              <a:t>Email</a:t>
            </a:r>
          </a:p>
          <a:p>
            <a:pPr lvl="1"/>
            <a:r>
              <a:rPr lang="en-US" dirty="0"/>
              <a:t>Call</a:t>
            </a:r>
          </a:p>
          <a:p>
            <a:pPr lvl="1"/>
            <a:r>
              <a:rPr lang="en-US" dirty="0"/>
              <a:t>Email and Call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61384-8C2A-AC46-D296-2DF95CBF1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031" y="1068169"/>
            <a:ext cx="10115939" cy="2681549"/>
          </a:xfrm>
        </p:spPr>
        <p:txBody>
          <a:bodyPr/>
          <a:lstStyle/>
          <a:p>
            <a:r>
              <a:rPr lang="en-US" dirty="0"/>
              <a:t>Data Validation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11334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4BF48F46-6E7D-0880-9D66-315C864F7D0F}"/>
              </a:ext>
            </a:extLst>
          </p:cNvPr>
          <p:cNvGraphicFramePr>
            <a:graphicFrameLocks noGrp="1"/>
          </p:cNvGraphicFramePr>
          <p:nvPr>
            <p:ph type="tbl" sz="quarter" idx="12"/>
            <p:extLst>
              <p:ext uri="{D42A27DB-BD31-4B8C-83A1-F6EECF244321}">
                <p14:modId xmlns:p14="http://schemas.microsoft.com/office/powerpoint/2010/main" val="1614388307"/>
              </p:ext>
            </p:extLst>
          </p:nvPr>
        </p:nvGraphicFramePr>
        <p:xfrm>
          <a:off x="1468814" y="1672377"/>
          <a:ext cx="9808774" cy="4233225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409669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3261936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4137169">
                  <a:extLst>
                    <a:ext uri="{9D8B030D-6E8A-4147-A177-3AD203B41FA5}">
                      <a16:colId xmlns:a16="http://schemas.microsoft.com/office/drawing/2014/main" val="3384805925"/>
                    </a:ext>
                  </a:extLst>
                </a:gridCol>
              </a:tblGrid>
              <a:tr h="344670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Column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Details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Required Modifications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423781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week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Week sale was made, counted as weeks since product launch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423781"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/>
                        <a:t>customer_id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Character, unique identifier for the 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Transformed to Category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348598"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/>
                        <a:t>nb_sold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Numeric, number of new products sold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627476"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/>
                        <a:t>years_as_customer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years_as_customer</a:t>
                      </a:r>
                      <a:r>
                        <a:rPr lang="en-US" sz="1200" dirty="0"/>
                        <a:t> Numeric, number of years customer has been buying from us(company founded in 1984)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Out of range values replaced with </a:t>
                      </a:r>
                      <a:r>
                        <a:rPr lang="en-US" sz="1600" dirty="0" err="1"/>
                        <a:t>NaN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4556317"/>
                  </a:ext>
                </a:extLst>
              </a:tr>
              <a:tr h="495161"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/>
                        <a:t>nb_site_visits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Numeric, number of times the customer has visited our website in the last 6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0355482"/>
                  </a:ext>
                </a:extLst>
              </a:tr>
              <a:tr h="495161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Character, location of the customer i.e. where orders are shipped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Transformed to Category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0407797"/>
                  </a:ext>
                </a:extLst>
              </a:tr>
              <a:tr h="495161"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/>
                        <a:t>sales_method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Character, which of the three sales methods were used for that </a:t>
                      </a:r>
                      <a:r>
                        <a:rPr lang="en-US" sz="1200" dirty="0" err="1"/>
                        <a:t>custome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Cleaned &amp; Transformed to Category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2786752"/>
                  </a:ext>
                </a:extLst>
              </a:tr>
              <a:tr h="495161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revenue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Numeric, revenue from the sales, rounded to 2 decimal places.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Missing data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9607344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592F51-55CE-19DC-B632-AD19560BA9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3791AB0F-1BC6-6412-E164-EA6B6CE5C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r>
              <a:rPr lang="en-US" dirty="0"/>
              <a:t>Columns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245466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6F71E8-8D71-9405-3A01-01C3B8F86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r>
              <a:rPr lang="en-US" dirty="0"/>
              <a:t>Sales Method</a:t>
            </a:r>
            <a:endParaRPr lang="en-Z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518A5-1C9D-79F3-349C-3E7AAFD9895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graphicFrame>
        <p:nvGraphicFramePr>
          <p:cNvPr id="6" name="Table Placeholder 2">
            <a:extLst>
              <a:ext uri="{FF2B5EF4-FFF2-40B4-BE49-F238E27FC236}">
                <a16:creationId xmlns:a16="http://schemas.microsoft.com/office/drawing/2014/main" id="{B0616FFC-8F73-1115-6BD7-BF3C2879C9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6405197"/>
              </p:ext>
            </p:extLst>
          </p:nvPr>
        </p:nvGraphicFramePr>
        <p:xfrm>
          <a:off x="1468814" y="2514600"/>
          <a:ext cx="2829464" cy="18288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741209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088255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</a:tblGrid>
              <a:tr h="2738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dirty="0">
                          <a:effectLst/>
                        </a:rPr>
                        <a:t>Sales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dirty="0">
                          <a:effectLst/>
                        </a:rPr>
                        <a:t>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2738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7456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2738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4962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2738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Email + 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2549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2738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 err="1">
                          <a:effectLst/>
                        </a:rPr>
                        <a:t>em</a:t>
                      </a:r>
                      <a:r>
                        <a:rPr lang="en-US" sz="1400" dirty="0">
                          <a:effectLst/>
                        </a:rPr>
                        <a:t> + 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1069903"/>
                  </a:ext>
                </a:extLst>
              </a:tr>
              <a:tr h="2738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7187992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994A125A-DF14-81D4-8E41-829C59859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814" y="4783491"/>
            <a:ext cx="7772400" cy="36520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AE96345-6A8C-1C7C-10FF-760247C9A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814" y="1700565"/>
            <a:ext cx="7772400" cy="45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473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6F71E8-8D71-9405-3A01-01C3B8F86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r>
              <a:rPr lang="en-US" dirty="0"/>
              <a:t>R</a:t>
            </a:r>
            <a:r>
              <a:rPr lang="en-US" sz="3600" dirty="0"/>
              <a:t>evenue</a:t>
            </a:r>
            <a:endParaRPr lang="en-Z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518A5-1C9D-79F3-349C-3E7AAFD9895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graphicFrame>
        <p:nvGraphicFramePr>
          <p:cNvPr id="6" name="Table Placeholder 2">
            <a:extLst>
              <a:ext uri="{FF2B5EF4-FFF2-40B4-BE49-F238E27FC236}">
                <a16:creationId xmlns:a16="http://schemas.microsoft.com/office/drawing/2014/main" id="{B0616FFC-8F73-1115-6BD7-BF3C2879C9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7383611"/>
              </p:ext>
            </p:extLst>
          </p:nvPr>
        </p:nvGraphicFramePr>
        <p:xfrm>
          <a:off x="1381119" y="2715029"/>
          <a:ext cx="3415168" cy="1354348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565500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849668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</a:tblGrid>
              <a:tr h="3385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dirty="0">
                          <a:effectLst/>
                        </a:rPr>
                        <a:t>Sales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dirty="0">
                          <a:effectLst/>
                        </a:rPr>
                        <a:t>Proportion of 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3385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0.036477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3385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0.072864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3385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Email + 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0.135692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</a:tbl>
          </a:graphicData>
        </a:graphic>
      </p:graphicFrame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75565898-6684-1BD3-D5C8-7312B54B8C6A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rcRect r="51477"/>
          <a:stretch/>
        </p:blipFill>
        <p:spPr>
          <a:xfrm>
            <a:off x="6962460" y="2715029"/>
            <a:ext cx="2236958" cy="3228572"/>
          </a:xfrm>
        </p:spPr>
      </p:pic>
      <p:pic>
        <p:nvPicPr>
          <p:cNvPr id="19" name="Content Placeholder 13">
            <a:extLst>
              <a:ext uri="{FF2B5EF4-FFF2-40B4-BE49-F238E27FC236}">
                <a16:creationId xmlns:a16="http://schemas.microsoft.com/office/drawing/2014/main" id="{071EDBFA-B45B-77CF-5E42-D9CEE8DC10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610"/>
          <a:stretch/>
        </p:blipFill>
        <p:spPr>
          <a:xfrm>
            <a:off x="9493877" y="2715029"/>
            <a:ext cx="2369114" cy="32285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34AC956-0381-A896-B2F9-09CB3D482F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54"/>
          <a:stretch>
            <a:fillRect/>
          </a:stretch>
        </p:blipFill>
        <p:spPr>
          <a:xfrm>
            <a:off x="1381119" y="4635128"/>
            <a:ext cx="5401218" cy="4703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0BBA10D-115F-A6D4-083B-75A8E705F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1119" y="1794856"/>
            <a:ext cx="7772400" cy="50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3824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61384-8C2A-AC46-D296-2DF95CBF1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031" y="1068169"/>
            <a:ext cx="10115939" cy="2681549"/>
          </a:xfrm>
        </p:spPr>
        <p:txBody>
          <a:bodyPr/>
          <a:lstStyle/>
          <a:p>
            <a:r>
              <a:rPr lang="en-US" dirty="0"/>
              <a:t>Exploratory analysis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12564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C15354-374E-4710-792F-592E588BA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pPr algn="l"/>
            <a:r>
              <a:rPr lang="en-US" b="0" i="0" dirty="0">
                <a:effectLst/>
                <a:latin typeface="system-ui"/>
              </a:rPr>
              <a:t>Customers and their characteristics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56543-DA8C-CEE2-0E13-19DE61C134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AA1673-B068-2037-7DFA-92C710708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092" y="2180515"/>
            <a:ext cx="3767154" cy="32572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6E2FE6-BB99-09E4-9871-AC9AC0542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749" y="2188804"/>
            <a:ext cx="3354343" cy="2406626"/>
          </a:xfrm>
          <a:prstGeom prst="rect">
            <a:avLst/>
          </a:prstGeom>
        </p:spPr>
      </p:pic>
      <p:pic>
        <p:nvPicPr>
          <p:cNvPr id="4" name="Picture 3" descr="A graph of a number of years&#10;&#10;AI-generated content may be incorrect.">
            <a:extLst>
              <a:ext uri="{FF2B5EF4-FFF2-40B4-BE49-F238E27FC236}">
                <a16:creationId xmlns:a16="http://schemas.microsoft.com/office/drawing/2014/main" id="{52B2A720-685C-407E-8A37-0638BB0E3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936" y="1931437"/>
            <a:ext cx="3551990" cy="266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08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C15354-374E-4710-792F-592E588BA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pPr algn="l"/>
            <a:r>
              <a:rPr lang="en-US" b="0" i="0" dirty="0">
                <a:effectLst/>
                <a:latin typeface="system-ui"/>
              </a:rPr>
              <a:t>Allocation of customers to sales </a:t>
            </a:r>
            <a:r>
              <a:rPr lang="en-US" dirty="0">
                <a:latin typeface="system-ui"/>
              </a:rPr>
              <a:t>m</a:t>
            </a:r>
            <a:r>
              <a:rPr lang="en-US" b="0" i="0" dirty="0">
                <a:effectLst/>
                <a:latin typeface="system-ui"/>
              </a:rPr>
              <a:t>ethods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56543-DA8C-CEE2-0E13-19DE61C134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E0E90C1-89AC-707A-BA4F-FCC041A2A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814" y="2013534"/>
            <a:ext cx="4627186" cy="333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010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C15354-374E-4710-792F-592E588BA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pPr algn="l"/>
            <a:r>
              <a:rPr lang="en-US" b="0" i="0" dirty="0">
                <a:effectLst/>
                <a:latin typeface="system-ui"/>
              </a:rPr>
              <a:t>Revenue for different groups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56543-DA8C-CEE2-0E13-19DE61C134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4AA5D3-08E9-5E95-3012-5133D36BC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814" y="1722603"/>
            <a:ext cx="3766703" cy="2775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01418B-7300-8029-8705-B77D794E6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200" y="1722603"/>
            <a:ext cx="3766703" cy="2930965"/>
          </a:xfrm>
          <a:prstGeom prst="rect">
            <a:avLst/>
          </a:prstGeom>
        </p:spPr>
      </p:pic>
      <p:graphicFrame>
        <p:nvGraphicFramePr>
          <p:cNvPr id="8" name="Table Placeholder 2">
            <a:extLst>
              <a:ext uri="{FF2B5EF4-FFF2-40B4-BE49-F238E27FC236}">
                <a16:creationId xmlns:a16="http://schemas.microsoft.com/office/drawing/2014/main" id="{A5F70929-1218-34A4-0C68-8B9C3F7C44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0996795"/>
              </p:ext>
            </p:extLst>
          </p:nvPr>
        </p:nvGraphicFramePr>
        <p:xfrm>
          <a:off x="1817938" y="4638469"/>
          <a:ext cx="8321965" cy="1631088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694115">
                  <a:extLst>
                    <a:ext uri="{9D8B030D-6E8A-4147-A177-3AD203B41FA5}">
                      <a16:colId xmlns:a16="http://schemas.microsoft.com/office/drawing/2014/main" val="2399270402"/>
                    </a:ext>
                  </a:extLst>
                </a:gridCol>
                <a:gridCol w="1136840">
                  <a:extLst>
                    <a:ext uri="{9D8B030D-6E8A-4147-A177-3AD203B41FA5}">
                      <a16:colId xmlns:a16="http://schemas.microsoft.com/office/drawing/2014/main" val="190584283"/>
                    </a:ext>
                  </a:extLst>
                </a:gridCol>
                <a:gridCol w="1242283">
                  <a:extLst>
                    <a:ext uri="{9D8B030D-6E8A-4147-A177-3AD203B41FA5}">
                      <a16:colId xmlns:a16="http://schemas.microsoft.com/office/drawing/2014/main" val="1265299680"/>
                    </a:ext>
                  </a:extLst>
                </a:gridCol>
                <a:gridCol w="1154545">
                  <a:extLst>
                    <a:ext uri="{9D8B030D-6E8A-4147-A177-3AD203B41FA5}">
                      <a16:colId xmlns:a16="http://schemas.microsoft.com/office/drawing/2014/main" val="1422551645"/>
                    </a:ext>
                  </a:extLst>
                </a:gridCol>
                <a:gridCol w="1062182">
                  <a:extLst>
                    <a:ext uri="{9D8B030D-6E8A-4147-A177-3AD203B41FA5}">
                      <a16:colId xmlns:a16="http://schemas.microsoft.com/office/drawing/2014/main" val="259198380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67300279"/>
                    </a:ext>
                  </a:extLst>
                </a:gridCol>
              </a:tblGrid>
              <a:tr h="2600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dirty="0">
                          <a:effectLst/>
                        </a:rPr>
                        <a:t>Contrast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>
                          <a:effectLst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dirty="0">
                          <a:effectLst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>
                          <a:effectLst/>
                        </a:rPr>
                        <a:t>U-val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>
                          <a:effectLst/>
                        </a:rPr>
                        <a:t>p-corr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dirty="0">
                          <a:effectLst/>
                        </a:rPr>
                        <a:t>hedges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4420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 err="1">
                          <a:effectLst/>
                        </a:rPr>
                        <a:t>sales_method</a:t>
                      </a:r>
                      <a:endParaRPr lang="en-US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>
                          <a:effectLst/>
                        </a:rPr>
                        <a:t>email + 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15854.5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>
                          <a:effectLst/>
                        </a:rPr>
                        <a:t>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>
                          <a:effectLst/>
                        </a:rPr>
                        <a:t>-5.241444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4420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 err="1">
                          <a:effectLst/>
                        </a:rPr>
                        <a:t>sales_method</a:t>
                      </a:r>
                      <a:endParaRPr lang="en-US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>
                          <a:effectLst/>
                        </a:rPr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37046292.0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>
                          <a:effectLst/>
                        </a:rPr>
                        <a:t>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4.969941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4420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 err="1">
                          <a:effectLst/>
                        </a:rPr>
                        <a:t>sales_method</a:t>
                      </a:r>
                      <a:endParaRPr lang="en-US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>
                          <a:effectLst/>
                        </a:rPr>
                        <a:t>email + 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>
                          <a:effectLst/>
                        </a:rPr>
                        <a:t>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12762264.0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7.903535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5579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61384-8C2A-AC46-D296-2DF95CBF1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031" y="1068169"/>
            <a:ext cx="10115939" cy="2681549"/>
          </a:xfrm>
        </p:spPr>
        <p:txBody>
          <a:bodyPr/>
          <a:lstStyle/>
          <a:p>
            <a:pPr algn="l"/>
            <a:r>
              <a:rPr lang="en-US" b="0" i="0" dirty="0">
                <a:effectLst/>
                <a:latin typeface="system-ui"/>
              </a:rPr>
              <a:t>Definition of a metric for the business</a:t>
            </a:r>
          </a:p>
        </p:txBody>
      </p:sp>
    </p:spTree>
    <p:extLst>
      <p:ext uri="{BB962C8B-B14F-4D97-AF65-F5344CB8AC3E}">
        <p14:creationId xmlns:p14="http://schemas.microsoft.com/office/powerpoint/2010/main" val="3688992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C15354-374E-4710-792F-592E588BA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r>
              <a:rPr lang="en-US" dirty="0"/>
              <a:t>Adjusted revenue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56543-DA8C-CEE2-0E13-19DE61C134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8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63A11F7-0C90-7447-361E-9DCA48405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19" y="3524077"/>
            <a:ext cx="3514909" cy="2710698"/>
          </a:xfrm>
          <a:prstGeom prst="rect">
            <a:avLst/>
          </a:prstGeom>
        </p:spPr>
      </p:pic>
      <p:graphicFrame>
        <p:nvGraphicFramePr>
          <p:cNvPr id="13" name="Table Placeholder 2">
            <a:extLst>
              <a:ext uri="{FF2B5EF4-FFF2-40B4-BE49-F238E27FC236}">
                <a16:creationId xmlns:a16="http://schemas.microsoft.com/office/drawing/2014/main" id="{24715150-4EE8-8EDF-3582-66D9441C28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2160897"/>
              </p:ext>
            </p:extLst>
          </p:nvPr>
        </p:nvGraphicFramePr>
        <p:xfrm>
          <a:off x="5365084" y="4198242"/>
          <a:ext cx="5977172" cy="1631088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248152">
                  <a:extLst>
                    <a:ext uri="{9D8B030D-6E8A-4147-A177-3AD203B41FA5}">
                      <a16:colId xmlns:a16="http://schemas.microsoft.com/office/drawing/2014/main" val="190584283"/>
                    </a:ext>
                  </a:extLst>
                </a:gridCol>
                <a:gridCol w="1256146">
                  <a:extLst>
                    <a:ext uri="{9D8B030D-6E8A-4147-A177-3AD203B41FA5}">
                      <a16:colId xmlns:a16="http://schemas.microsoft.com/office/drawing/2014/main" val="1265299680"/>
                    </a:ext>
                  </a:extLst>
                </a:gridCol>
                <a:gridCol w="1163782">
                  <a:extLst>
                    <a:ext uri="{9D8B030D-6E8A-4147-A177-3AD203B41FA5}">
                      <a16:colId xmlns:a16="http://schemas.microsoft.com/office/drawing/2014/main" val="1422551645"/>
                    </a:ext>
                  </a:extLst>
                </a:gridCol>
                <a:gridCol w="997527">
                  <a:extLst>
                    <a:ext uri="{9D8B030D-6E8A-4147-A177-3AD203B41FA5}">
                      <a16:colId xmlns:a16="http://schemas.microsoft.com/office/drawing/2014/main" val="2591983806"/>
                    </a:ext>
                  </a:extLst>
                </a:gridCol>
                <a:gridCol w="1311565">
                  <a:extLst>
                    <a:ext uri="{9D8B030D-6E8A-4147-A177-3AD203B41FA5}">
                      <a16:colId xmlns:a16="http://schemas.microsoft.com/office/drawing/2014/main" val="3667300279"/>
                    </a:ext>
                  </a:extLst>
                </a:gridCol>
              </a:tblGrid>
              <a:tr h="2600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dirty="0">
                          <a:effectLst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dirty="0">
                          <a:effectLst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>
                          <a:effectLst/>
                        </a:rPr>
                        <a:t>U-val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>
                          <a:effectLst/>
                        </a:rPr>
                        <a:t>p-corr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dirty="0">
                          <a:effectLst/>
                        </a:rPr>
                        <a:t>hedges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4420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>
                          <a:effectLst/>
                        </a:rPr>
                        <a:t>email + 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15854.5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>
                          <a:effectLst/>
                        </a:rPr>
                        <a:t>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>
                          <a:effectLst/>
                        </a:rPr>
                        <a:t>-5.241444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4420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>
                          <a:effectLst/>
                        </a:rPr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37046292.0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4.969941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4420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email + 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>
                          <a:effectLst/>
                        </a:rPr>
                        <a:t>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12762264.0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7.903535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</a:tbl>
          </a:graphicData>
        </a:graphic>
      </p:graphicFrame>
      <p:pic>
        <p:nvPicPr>
          <p:cNvPr id="15" name="Picture 1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FDFC831-CDD4-B923-4DF4-DFEBBDF2E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119" y="1505860"/>
            <a:ext cx="6102057" cy="142758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DDB2099-B7AE-DBC7-C5A3-DDF49663C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8814" y="3010073"/>
            <a:ext cx="5977172" cy="49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720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C15354-374E-4710-792F-592E588BA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56543-DA8C-CEE2-0E13-19DE61C134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9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0A59352-2983-4471-869B-DEDC9BE3F8E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8814" y="2159516"/>
            <a:ext cx="4449712" cy="23570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Email &amp; call &gt; Email &gt; Call </a:t>
            </a:r>
          </a:p>
          <a:p>
            <a:endParaRPr lang="en-US" dirty="0"/>
          </a:p>
          <a:p>
            <a:r>
              <a:rPr lang="en-US" dirty="0"/>
              <a:t>The differences between the sales methods are significant.</a:t>
            </a:r>
          </a:p>
          <a:p>
            <a:endParaRPr lang="en-US" dirty="0"/>
          </a:p>
          <a:p>
            <a:r>
              <a:rPr lang="en-US" dirty="0"/>
              <a:t>Using adjusted revenue</a:t>
            </a:r>
          </a:p>
        </p:txBody>
      </p:sp>
    </p:spTree>
    <p:extLst>
      <p:ext uri="{BB962C8B-B14F-4D97-AF65-F5344CB8AC3E}">
        <p14:creationId xmlns:p14="http://schemas.microsoft.com/office/powerpoint/2010/main" val="3949515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4" y="690511"/>
            <a:ext cx="4964671" cy="5253089"/>
          </a:xfrm>
        </p:spPr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ECFE66-A9E7-A365-967B-2FD670CB392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82286" y="690465"/>
            <a:ext cx="4784372" cy="5253089"/>
          </a:xfrm>
        </p:spPr>
        <p:txBody>
          <a:bodyPr/>
          <a:lstStyle/>
          <a:p>
            <a:r>
              <a:rPr lang="en-US" dirty="0"/>
              <a:t>Dr. Anoushiravan Zahedi</a:t>
            </a:r>
          </a:p>
          <a:p>
            <a:r>
              <a:rPr lang="en-US" dirty="0"/>
              <a:t>anoushiravanzahedi@gmail.com</a:t>
            </a: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{4140F15E-8283-41DA-8B2E-9CE58A7F7CBE}TF3977e381-cba5-49b1-ba43-b5d865517af907ebbda9_win32-372d4d6ae720</Template>
  <TotalTime>58</TotalTime>
  <Words>348</Words>
  <Application>Microsoft Macintosh PowerPoint</Application>
  <PresentationFormat>Widescreen</PresentationFormat>
  <Paragraphs>127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system-ui</vt:lpstr>
      <vt:lpstr>Tisa Offc Serif Pro</vt:lpstr>
      <vt:lpstr>Univers Light</vt:lpstr>
      <vt:lpstr>Custom</vt:lpstr>
      <vt:lpstr>Data Analyst Professional Practical Exam Presentation  Dr. Anoushiravan zahedi</vt:lpstr>
      <vt:lpstr>Pens and Printer</vt:lpstr>
      <vt:lpstr>Data Validation</vt:lpstr>
      <vt:lpstr>Columns</vt:lpstr>
      <vt:lpstr>Sales Method</vt:lpstr>
      <vt:lpstr>Revenue</vt:lpstr>
      <vt:lpstr>Exploratory analysis</vt:lpstr>
      <vt:lpstr>Customers and their characteristics</vt:lpstr>
      <vt:lpstr>Allocation of customers to sales methods</vt:lpstr>
      <vt:lpstr>Revenue for different groups </vt:lpstr>
      <vt:lpstr>Definition of a metric for the business</vt:lpstr>
      <vt:lpstr>Adjusted revenue</vt:lpstr>
      <vt:lpstr>Conclusions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Anoushiravan Zahedi</dc:creator>
  <cp:lastModifiedBy>anoushiravan zahedi</cp:lastModifiedBy>
  <cp:revision>10</cp:revision>
  <dcterms:created xsi:type="dcterms:W3CDTF">2025-08-07T09:13:18Z</dcterms:created>
  <dcterms:modified xsi:type="dcterms:W3CDTF">2025-12-28T11:40:42Z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