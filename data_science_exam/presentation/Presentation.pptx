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22" r:id="rId5"/>
    <p:sldId id="321" r:id="rId6"/>
    <p:sldId id="317" r:id="rId7"/>
    <p:sldId id="313" r:id="rId8"/>
    <p:sldId id="324" r:id="rId9"/>
    <p:sldId id="323" r:id="rId10"/>
    <p:sldId id="330" r:id="rId11"/>
    <p:sldId id="331" r:id="rId12"/>
    <p:sldId id="332" r:id="rId13"/>
    <p:sldId id="333" r:id="rId14"/>
    <p:sldId id="334" r:id="rId15"/>
    <p:sldId id="327" r:id="rId16"/>
    <p:sldId id="335" r:id="rId17"/>
    <p:sldId id="337" r:id="rId18"/>
    <p:sldId id="339" r:id="rId19"/>
    <p:sldId id="338" r:id="rId20"/>
    <p:sldId id="340" r:id="rId21"/>
    <p:sldId id="341" r:id="rId22"/>
    <p:sldId id="344" r:id="rId23"/>
    <p:sldId id="346" r:id="rId24"/>
    <p:sldId id="347" r:id="rId25"/>
    <p:sldId id="348" r:id="rId26"/>
    <p:sldId id="349" r:id="rId27"/>
    <p:sldId id="31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5388" autoAdjust="0"/>
  </p:normalViewPr>
  <p:slideViewPr>
    <p:cSldViewPr snapToGrid="0">
      <p:cViewPr varScale="1">
        <p:scale>
          <a:sx n="137" d="100"/>
          <a:sy n="137" d="100"/>
        </p:scale>
        <p:origin x="232" y="320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sa Offc Serif Pro" panose="02010504030101020102" pitchFamily="2" charset="0"/>
              </a:rPr>
              <a:t>Data Scientist Professional Practical Exam</a:t>
            </a:r>
            <a:br>
              <a:rPr lang="en-US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  <a:t>Presentation</a:t>
            </a:r>
            <a:br>
              <a:rPr lang="en-US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</a:br>
            <a:r>
              <a:rPr lang="en-US" sz="2700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  <a:t>Dr. Anoushiravan </a:t>
            </a:r>
            <a:r>
              <a:rPr lang="en-US" sz="2700" dirty="0">
                <a:solidFill>
                  <a:srgbClr val="FFFFFF"/>
                </a:solidFill>
                <a:latin typeface="Tisa Offc Serif Pro" panose="02010504030101020102" pitchFamily="2" charset="0"/>
              </a:rPr>
              <a:t>Z</a:t>
            </a:r>
            <a:r>
              <a:rPr lang="en-US" sz="2700" b="0" i="0" dirty="0">
                <a:solidFill>
                  <a:srgbClr val="FFFFFF"/>
                </a:solidFill>
                <a:effectLst/>
                <a:latin typeface="Tisa Offc Serif Pro" panose="02010504030101020102" pitchFamily="2" charset="0"/>
              </a:rPr>
              <a:t>ahedi</a:t>
            </a:r>
            <a:endParaRPr lang="en-US" sz="2200" b="0" i="0" dirty="0">
              <a:solidFill>
                <a:srgbClr val="FFFFFF"/>
              </a:solidFill>
              <a:effectLst/>
              <a:latin typeface="Tisa Offc Serif Pro" panose="02010504030101020102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b="1" i="1" dirty="0"/>
              <a:t>Tasty Bytes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40941" y="737115"/>
            <a:ext cx="5997232" cy="5407091"/>
          </a:xfrm>
        </p:spPr>
        <p:txBody>
          <a:bodyPr>
            <a:noAutofit/>
          </a:bodyPr>
          <a:lstStyle/>
          <a:p>
            <a:r>
              <a:rPr lang="en-US" sz="1600" b="1" i="1" dirty="0">
                <a:latin typeface="Tisa Offc Serif Pro" panose="02010504030101020102" pitchFamily="2" charset="0"/>
              </a:rPr>
              <a:t>Company Description</a:t>
            </a:r>
            <a:endParaRPr lang="en-US" sz="1600" dirty="0">
              <a:latin typeface="Tisa Offc Serif Pro" panose="02010504030101020102" pitchFamily="2" charset="0"/>
            </a:endParaRPr>
          </a:p>
          <a:p>
            <a:r>
              <a:rPr lang="en-US" sz="1600" dirty="0">
                <a:latin typeface="Tisa Offc Serif Pro" panose="02010504030101020102" pitchFamily="2" charset="0"/>
              </a:rPr>
              <a:t>Tasty Bytes was founded in 2020 in the midst of the Covid Pandemic. </a:t>
            </a:r>
          </a:p>
          <a:p>
            <a:pPr lvl="1"/>
            <a:r>
              <a:rPr lang="en-US" sz="1600" dirty="0">
                <a:latin typeface="Tisa Offc Serif Pro" panose="02010504030101020102" pitchFamily="2" charset="0"/>
              </a:rPr>
              <a:t>Search engine for recipes</a:t>
            </a:r>
          </a:p>
          <a:p>
            <a:pPr lvl="1"/>
            <a:r>
              <a:rPr lang="en-US" sz="1600" dirty="0">
                <a:latin typeface="Tisa Offc Serif Pro" panose="02010504030101020102" pitchFamily="2" charset="0"/>
              </a:rPr>
              <a:t>Monthly subscription -&gt; full healthy, balanced diet, meal plan whatever your budget.</a:t>
            </a:r>
          </a:p>
          <a:p>
            <a:r>
              <a:rPr lang="en-US" sz="1600" b="1" i="1" dirty="0">
                <a:latin typeface="Tisa Offc Serif Pro" panose="02010504030101020102" pitchFamily="2" charset="0"/>
              </a:rPr>
              <a:t>Problem Description</a:t>
            </a:r>
            <a:endParaRPr lang="en-US" sz="1600" b="1" dirty="0">
              <a:latin typeface="Tisa Offc Serif Pro" panose="02010504030101020102" pitchFamily="2" charset="0"/>
            </a:endParaRPr>
          </a:p>
          <a:p>
            <a:pPr lvl="1"/>
            <a:r>
              <a:rPr lang="en-US" sz="1600" dirty="0">
                <a:latin typeface="Tisa Offc Serif Pro" panose="02010504030101020102" pitchFamily="2" charset="0"/>
              </a:rPr>
              <a:t>At the moment, the owner chooses their favorite recipe from a selection and displays it on the home page. </a:t>
            </a:r>
          </a:p>
          <a:p>
            <a:pPr lvl="1"/>
            <a:r>
              <a:rPr lang="en-US" sz="1600" dirty="0">
                <a:latin typeface="Tisa Offc Serif Pro" panose="02010504030101020102" pitchFamily="2" charset="0"/>
              </a:rPr>
              <a:t>The company has noticed that traffic to the rest of the website goes up by as much as 40% if they pick a popular recipe.</a:t>
            </a:r>
          </a:p>
          <a:p>
            <a:r>
              <a:rPr lang="en-US" sz="1600" b="1" dirty="0">
                <a:latin typeface="Tisa Offc Serif Pro" panose="02010504030101020102" pitchFamily="2" charset="0"/>
              </a:rPr>
              <a:t>We should: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Predict which recipes will lead to high traffic?</a:t>
            </a:r>
            <a:endParaRPr lang="en-US" sz="1600" dirty="0">
              <a:latin typeface="Tisa Offc Serif Pro" panose="02010504030101020102" pitchFamily="2" charset="0"/>
            </a:endParaRP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Correctly predict high traffic recipes 80% of the time?</a:t>
            </a:r>
            <a:endParaRPr lang="en-US" sz="1600" dirty="0">
              <a:latin typeface="Tisa Offc Serif Pro" panose="02010504030101020102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Data Validation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791AB0F-1BC6-6412-E164-EA6B6CE5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Columns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</a:t>
            </a:r>
            <a:endParaRPr lang="en-US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7572DC35-85CC-7FA5-6335-F7DB1AD9274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90942771"/>
              </p:ext>
            </p:extLst>
          </p:nvPr>
        </p:nvGraphicFramePr>
        <p:xfrm>
          <a:off x="1155050" y="1727851"/>
          <a:ext cx="10122537" cy="3700766"/>
        </p:xfrm>
        <a:graphic>
          <a:graphicData uri="http://schemas.openxmlformats.org/drawingml/2006/table">
            <a:tbl>
              <a:tblPr/>
              <a:tblGrid>
                <a:gridCol w="3006749">
                  <a:extLst>
                    <a:ext uri="{9D8B030D-6E8A-4147-A177-3AD203B41FA5}">
                      <a16:colId xmlns:a16="http://schemas.microsoft.com/office/drawing/2014/main" val="717241311"/>
                    </a:ext>
                  </a:extLst>
                </a:gridCol>
                <a:gridCol w="3557894">
                  <a:extLst>
                    <a:ext uri="{9D8B030D-6E8A-4147-A177-3AD203B41FA5}">
                      <a16:colId xmlns:a16="http://schemas.microsoft.com/office/drawing/2014/main" val="3007593282"/>
                    </a:ext>
                  </a:extLst>
                </a:gridCol>
                <a:gridCol w="3557894">
                  <a:extLst>
                    <a:ext uri="{9D8B030D-6E8A-4147-A177-3AD203B41FA5}">
                      <a16:colId xmlns:a16="http://schemas.microsoft.com/office/drawing/2014/main" val="3092196136"/>
                    </a:ext>
                  </a:extLst>
                </a:gridCol>
              </a:tblGrid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Column Name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Details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Changes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70988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recipe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unique identifier of recipe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No duplicates: Eliminated for the final modeling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003958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calories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number of calories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(1) Validated values are within logical range: i.e., non-negative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(2) 52 rows out of 947 (5.5%) had missing values for nutritional columns. Imputed based on servings and category columns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958846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carbohydrate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amount of carbohydrates in grams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Tisa Offc Serif Pro" panose="02010504030101020102" pitchFamily="2" charset="0"/>
                      </a:endParaRP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498627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sugar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amount of sugar in grams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Tisa Offc Serif Pro" panose="02010504030101020102" pitchFamily="2" charset="0"/>
                      </a:endParaRP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807080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protein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amount of protein in grams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Tisa Offc Serif Pro" panose="02010504030101020102" pitchFamily="2" charset="0"/>
                      </a:endParaRP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392261"/>
                  </a:ext>
                </a:extLst>
              </a:tr>
              <a:tr h="103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category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Character, type of recipe. Recipes are listed in one of ten possible groupings:</a:t>
                      </a:r>
                      <a:b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'Lunch/Snacks', 'Beverages', 'Potato', 'Vegetable', 'Meat', 'Chicken', 'Pork', 'Dessert', 'Breakfast', 'One Dish Meal'.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Corrected typos and inconsistent naming (['Chicken Breast']-&gt; ['Chicken']).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51626"/>
                  </a:ext>
                </a:extLst>
              </a:tr>
              <a:tr h="290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servings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Numeric, number of servings for the recipe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Both"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Removed text entries like "as a snack" </a:t>
                      </a:r>
                    </a:p>
                    <a:p>
                      <a:pPr marL="228600" indent="-228600" algn="l" fontAlgn="ctr">
                        <a:buAutoNum type="arabicParenBoth"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Converted to a category type.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91025"/>
                  </a:ext>
                </a:extLst>
              </a:tr>
              <a:tr h="477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high-traffic (Target Variable)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Character, if the traffic to the site was high when this recipe was shown, this is marked with "High".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arenBoth"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373 from 947 [39.4%] were 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NaN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 -&gt; low traffic</a:t>
                      </a:r>
                    </a:p>
                    <a:p>
                      <a:pPr marL="228600" indent="-228600" algn="l" fontAlgn="ctr">
                        <a:buAutoNum type="arabicParenBoth"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Tisa Offc Serif Pro" panose="02010504030101020102" pitchFamily="2" charset="0"/>
                        </a:rPr>
                        <a:t>Recoded: 0 = low traffic, 1 = high traffic</a:t>
                      </a:r>
                    </a:p>
                  </a:txBody>
                  <a:tcPr marL="38982" marR="38982" marT="38982" marB="389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343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Exploratory analysis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1256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1741925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High Traffic Distribution </a:t>
            </a:r>
            <a:r>
              <a:rPr lang="en-US" sz="3200" dirty="0"/>
              <a:t>(Count Plot)</a:t>
            </a:r>
            <a:endParaRPr lang="en-ZA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1F57DD-EA28-CD1F-73C7-FCF0B3F46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3421" y="1602997"/>
            <a:ext cx="4449712" cy="36376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CCEB0-01FE-CEF7-53C6-F44129D0F651}"/>
              </a:ext>
            </a:extLst>
          </p:cNvPr>
          <p:cNvSpPr txBox="1"/>
          <p:nvPr/>
        </p:nvSpPr>
        <p:spPr>
          <a:xfrm>
            <a:off x="1455583" y="2782669"/>
            <a:ext cx="46404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Class imbalance: </a:t>
            </a:r>
            <a:r>
              <a:rPr lang="en-US" sz="2000" dirty="0" err="1">
                <a:latin typeface="Tisa Offc Serif Pro" panose="02010504030101020102" pitchFamily="2" charset="0"/>
              </a:rPr>
              <a:t>imblearn.over_sampling.SMOTE</a:t>
            </a:r>
            <a:r>
              <a:rPr lang="en-US" sz="2000" dirty="0">
                <a:latin typeface="Tisa Offc Serif Pro" panose="02010504030101020102" pitchFamily="2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sa Offc Serif Pro" panose="02010504030101020102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The baseline accuracy ~ 60% (majority class) </a:t>
            </a:r>
          </a:p>
        </p:txBody>
      </p:sp>
    </p:spTree>
    <p:extLst>
      <p:ext uri="{BB962C8B-B14F-4D97-AF65-F5344CB8AC3E}">
        <p14:creationId xmlns:p14="http://schemas.microsoft.com/office/powerpoint/2010/main" val="132547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2F8A-364D-AF8B-8452-550F5B4F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5C5476-737E-FBF4-6653-DDF2CF6B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4061297" cy="1660644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Numerical Feature Distributions </a:t>
            </a:r>
            <a:r>
              <a:rPr lang="en-US" sz="3200" dirty="0"/>
              <a:t>(Histograms)</a:t>
            </a:r>
            <a:endParaRPr lang="en-ZA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B32D6-3D05-8DE4-6E6F-CF62083D13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E7E8037-D91D-7188-DE16-EB7918ECE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842" y="1624664"/>
            <a:ext cx="6230022" cy="441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C60B0C-0604-D545-5830-DBC515ECE5CF}"/>
              </a:ext>
            </a:extLst>
          </p:cNvPr>
          <p:cNvSpPr txBox="1"/>
          <p:nvPr/>
        </p:nvSpPr>
        <p:spPr>
          <a:xfrm>
            <a:off x="1455583" y="2814320"/>
            <a:ext cx="40612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Nutritional features show right-skewed distributions: </a:t>
            </a:r>
            <a:r>
              <a:rPr lang="en-US" sz="2000" dirty="0" err="1">
                <a:latin typeface="Tisa Offc Serif Pro" panose="02010504030101020102" pitchFamily="2" charset="0"/>
              </a:rPr>
              <a:t>PowerTransformer</a:t>
            </a:r>
            <a:r>
              <a:rPr lang="en-US" sz="2000" dirty="0">
                <a:latin typeface="Tisa Offc Serif Pro" panose="02010504030101020102" pitchFamily="2" charset="0"/>
              </a:rPr>
              <a:t>()</a:t>
            </a:r>
          </a:p>
          <a:p>
            <a:endParaRPr lang="en-US" sz="2000" dirty="0">
              <a:latin typeface="Tisa Offc Serif Pro" panose="02010504030101020102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Different scales (calories in hundreds vs. protein in tens): </a:t>
            </a:r>
            <a:r>
              <a:rPr lang="en-US" sz="2000" dirty="0" err="1">
                <a:latin typeface="Tisa Offc Serif Pro" panose="02010504030101020102" pitchFamily="2" charset="0"/>
              </a:rPr>
              <a:t>StandardScaler</a:t>
            </a:r>
            <a:r>
              <a:rPr lang="en-US" sz="2000" dirty="0">
                <a:latin typeface="Tisa Offc Serif Pro" panose="02010504030101020102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59240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F418-A54A-18C8-7C0F-E825ADD4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57BC8C-BF51-2A7E-FF34-3A63648EF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Correlation Heatmap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A7D5A-2DF9-09C5-6E9D-57A09E212218}"/>
              </a:ext>
            </a:extLst>
          </p:cNvPr>
          <p:cNvSpPr txBox="1"/>
          <p:nvPr/>
        </p:nvSpPr>
        <p:spPr>
          <a:xfrm>
            <a:off x="1468814" y="2057401"/>
            <a:ext cx="4627186" cy="41194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Heatmap helps identify redundant features.</a:t>
            </a:r>
          </a:p>
          <a:p>
            <a:pPr marL="285750" indent="-28575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Weak correlations between features, implying no multicollinearity.</a:t>
            </a:r>
          </a:p>
        </p:txBody>
      </p:sp>
      <p:pic>
        <p:nvPicPr>
          <p:cNvPr id="4098" name="Picture 2" descr="A diagram of a heat map&#10;&#10;AI-generated content may be incorrect.">
            <a:extLst>
              <a:ext uri="{FF2B5EF4-FFF2-40B4-BE49-F238E27FC236}">
                <a16:creationId xmlns:a16="http://schemas.microsoft.com/office/drawing/2014/main" id="{8D74D294-020B-222C-8BE0-61663181D5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" b="2"/>
          <a:stretch>
            <a:fillRect/>
          </a:stretch>
        </p:blipFill>
        <p:spPr bwMode="auto">
          <a:xfrm>
            <a:off x="6668185" y="2057401"/>
            <a:ext cx="4873575" cy="41194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3FDB2-84F1-9A83-830E-333167CA378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91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265D-EB0D-D673-05E4-F1A715CC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EE70AA-8277-D1C0-E523-E7B86AD4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Numerical Features vs. High Traffic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CCEED-9090-15CB-DA73-4E2748D2F028}"/>
              </a:ext>
            </a:extLst>
          </p:cNvPr>
          <p:cNvSpPr txBox="1"/>
          <p:nvPr/>
        </p:nvSpPr>
        <p:spPr>
          <a:xfrm>
            <a:off x="1468814" y="2057401"/>
            <a:ext cx="4627186" cy="41194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sa Offc Serif Pro" panose="02010504030101020102" pitchFamily="2" charset="0"/>
              </a:rPr>
              <a:t>seaborn.regplot</a:t>
            </a:r>
            <a:r>
              <a:rPr lang="en-US" sz="2000" dirty="0">
                <a:latin typeface="Tisa Offc Serif Pro" panose="02010504030101020102" pitchFamily="2" charset="0"/>
              </a:rPr>
              <a:t> shows how nutritional features (calories, protein, sugar, carbohydrates) predict whether recipes are high- or low-traffic.</a:t>
            </a:r>
          </a:p>
          <a:p>
            <a:pPr marL="3429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High-traffic recipes tend to have higher carbohydrate, calorie, and protein content and lower sugar.</a:t>
            </a:r>
          </a:p>
        </p:txBody>
      </p:sp>
      <p:pic>
        <p:nvPicPr>
          <p:cNvPr id="6146" name="Picture 2" descr="A graph of different types of traffic&#10;&#10;AI-generated content may be incorrect.">
            <a:extLst>
              <a:ext uri="{FF2B5EF4-FFF2-40B4-BE49-F238E27FC236}">
                <a16:creationId xmlns:a16="http://schemas.microsoft.com/office/drawing/2014/main" id="{9613A33D-2F1B-A5C6-0C3E-48611BC4A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687754"/>
            <a:ext cx="5852489" cy="41406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DC0A9-66F4-9DCA-9316-1CEFFCFB0E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5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7635-C52E-B0FC-E6F5-8F05B2BB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194B70-5B35-C21A-A8BB-5C9F1284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sz="2400" b="1" kern="1200" dirty="0">
                <a:latin typeface="+mj-lt"/>
                <a:ea typeface="+mj-ea"/>
                <a:cs typeface="+mj-cs"/>
              </a:rPr>
              <a:t>Categorical Feature Distributions and </a:t>
            </a:r>
            <a:br>
              <a:rPr lang="en-US" sz="2400" b="1" kern="1200" dirty="0"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latin typeface="+mj-lt"/>
                <a:ea typeface="+mj-ea"/>
                <a:cs typeface="+mj-cs"/>
              </a:rPr>
              <a:t>Categorical Features vs. High Traffic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45877-86C8-16C1-B828-5CE492FC9BC3}"/>
              </a:ext>
            </a:extLst>
          </p:cNvPr>
          <p:cNvSpPr txBox="1"/>
          <p:nvPr/>
        </p:nvSpPr>
        <p:spPr>
          <a:xfrm>
            <a:off x="1468814" y="2057401"/>
            <a:ext cx="2794267" cy="41194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Specific categories (e.g., Potato, Pork, and Vegetable) have higher proportions of high-traffic recipes.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352EC-3268-1FE5-84C3-4FC8DC0342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65049E-980F-616E-0350-6E54632F3A4F}"/>
              </a:ext>
            </a:extLst>
          </p:cNvPr>
          <p:cNvGrpSpPr/>
          <p:nvPr/>
        </p:nvGrpSpPr>
        <p:grpSpPr>
          <a:xfrm>
            <a:off x="4866677" y="1731445"/>
            <a:ext cx="6410910" cy="4538112"/>
            <a:chOff x="4719606" y="97856"/>
            <a:chExt cx="7472394" cy="5175183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FEF7ACE6-ACBB-DFC5-123B-8BA2A0EDA3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97856"/>
              <a:ext cx="7467600" cy="3081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>
              <a:extLst>
                <a:ext uri="{FF2B5EF4-FFF2-40B4-BE49-F238E27FC236}">
                  <a16:creationId xmlns:a16="http://schemas.microsoft.com/office/drawing/2014/main" id="{81341061-2B0D-9D5B-2B7D-BE07000FF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606" y="3179212"/>
              <a:ext cx="7472394" cy="2093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29041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4358-AFAB-1777-B7A2-97D66BB1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098ADA-7D17-B906-B0F0-B94C6A1C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sz="2400" b="1" kern="1200" dirty="0">
                <a:latin typeface="+mj-lt"/>
                <a:ea typeface="+mj-ea"/>
                <a:cs typeface="+mj-cs"/>
              </a:rPr>
              <a:t>Categorical Feature Distributions and </a:t>
            </a:r>
            <a:br>
              <a:rPr lang="en-US" sz="2400" b="1" kern="1200" dirty="0"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latin typeface="+mj-lt"/>
                <a:ea typeface="+mj-ea"/>
                <a:cs typeface="+mj-cs"/>
              </a:rPr>
              <a:t>Categorical Features vs. High Traffic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DE320-EDD5-4705-BBDE-73562EBF3124}"/>
              </a:ext>
            </a:extLst>
          </p:cNvPr>
          <p:cNvSpPr txBox="1"/>
          <p:nvPr/>
        </p:nvSpPr>
        <p:spPr>
          <a:xfrm>
            <a:off x="1468814" y="2057401"/>
            <a:ext cx="2794267" cy="41194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sa Offc Serif Pro" panose="02010504030101020102" pitchFamily="2" charset="0"/>
              </a:rPr>
              <a:t>Serving sizes for 4-6 people might be more popular than individual servings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7E9AF-890F-9431-0745-5FA7DC6F53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7BF377-2B3C-A252-023C-D3EAFD7F7E9B}"/>
              </a:ext>
            </a:extLst>
          </p:cNvPr>
          <p:cNvGrpSpPr/>
          <p:nvPr/>
        </p:nvGrpSpPr>
        <p:grpSpPr>
          <a:xfrm>
            <a:off x="4798772" y="1931437"/>
            <a:ext cx="6478815" cy="4012164"/>
            <a:chOff x="0" y="1365250"/>
            <a:chExt cx="12192000" cy="7542213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CA7E3EE8-9A1B-CE0D-1786-ABC5A48347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365250"/>
              <a:ext cx="12192000" cy="4125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6" name="Picture 4">
              <a:extLst>
                <a:ext uri="{FF2B5EF4-FFF2-40B4-BE49-F238E27FC236}">
                  <a16:creationId xmlns:a16="http://schemas.microsoft.com/office/drawing/2014/main" id="{9949ED99-C3B5-7AE6-936B-F1804B4C32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491163"/>
              <a:ext cx="12192000" cy="3416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42922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Tisa Offc Serif Pro" panose="02010504030101020102" pitchFamily="2" charset="0"/>
              </a:rPr>
              <a:t>Model Development</a:t>
            </a:r>
          </a:p>
        </p:txBody>
      </p:sp>
    </p:spTree>
    <p:extLst>
      <p:ext uri="{BB962C8B-B14F-4D97-AF65-F5344CB8AC3E}">
        <p14:creationId xmlns:p14="http://schemas.microsoft.com/office/powerpoint/2010/main" val="368899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1425-2C43-C74F-7715-5767DCCF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32A0-AF59-81EC-6C65-60F0331DE3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803189"/>
            <a:ext cx="9457054" cy="5341017"/>
          </a:xfrm>
        </p:spPr>
        <p:txBody>
          <a:bodyPr>
            <a:noAutofit/>
          </a:bodyPr>
          <a:lstStyle/>
          <a:p>
            <a:r>
              <a:rPr lang="en-US" sz="1600" b="1" i="1" dirty="0">
                <a:latin typeface="Tisa Offc Serif Pro" panose="02010504030101020102" pitchFamily="2" charset="0"/>
              </a:rPr>
              <a:t>Problem Type: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This is a binary classification problem. </a:t>
            </a:r>
          </a:p>
          <a:p>
            <a:r>
              <a:rPr lang="en-US" sz="1600" b="1" i="1" dirty="0">
                <a:latin typeface="Tisa Offc Serif Pro" panose="02010504030101020102" pitchFamily="2" charset="0"/>
              </a:rPr>
              <a:t>Preprocessing Strategy: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Train-test split (80/20) with stratification to maintain class distribution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SMOTE to address class imbalance by generating synthetic minority class examples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Numerical features:</a:t>
            </a:r>
          </a:p>
          <a:p>
            <a:pPr lvl="2"/>
            <a:r>
              <a:rPr lang="en-US" sz="1600" i="1" dirty="0">
                <a:latin typeface="Tisa Offc Serif Pro" panose="02010504030101020102" pitchFamily="2" charset="0"/>
              </a:rPr>
              <a:t>Median imputation (already implemented during data validation) +</a:t>
            </a:r>
          </a:p>
          <a:p>
            <a:pPr lvl="2"/>
            <a:r>
              <a:rPr lang="en-US" sz="1600" i="1" dirty="0" err="1">
                <a:latin typeface="Tisa Offc Serif Pro" panose="02010504030101020102" pitchFamily="2" charset="0"/>
              </a:rPr>
              <a:t>PowerTransformer</a:t>
            </a:r>
            <a:r>
              <a:rPr lang="en-US" sz="1600" i="1" dirty="0">
                <a:latin typeface="Tisa Offc Serif Pro" panose="02010504030101020102" pitchFamily="2" charset="0"/>
              </a:rPr>
              <a:t> with yeo-</a:t>
            </a:r>
            <a:r>
              <a:rPr lang="en-US" sz="1600" i="1" dirty="0" err="1">
                <a:latin typeface="Tisa Offc Serif Pro" panose="02010504030101020102" pitchFamily="2" charset="0"/>
              </a:rPr>
              <a:t>johnson</a:t>
            </a:r>
            <a:r>
              <a:rPr lang="en-US" sz="1600" i="1" dirty="0">
                <a:latin typeface="Tisa Offc Serif Pro" panose="02010504030101020102" pitchFamily="2" charset="0"/>
              </a:rPr>
              <a:t> method +</a:t>
            </a:r>
          </a:p>
          <a:p>
            <a:pPr lvl="2"/>
            <a:r>
              <a:rPr lang="en-US" sz="1600" i="1" dirty="0" err="1">
                <a:latin typeface="Tisa Offc Serif Pro" panose="02010504030101020102" pitchFamily="2" charset="0"/>
              </a:rPr>
              <a:t>StandardScaler</a:t>
            </a:r>
            <a:r>
              <a:rPr lang="en-US" sz="1600" i="1" dirty="0">
                <a:latin typeface="Tisa Offc Serif Pro" panose="02010504030101020102" pitchFamily="2" charset="0"/>
              </a:rPr>
              <a:t> normalization</a:t>
            </a:r>
          </a:p>
          <a:p>
            <a:pPr lvl="1"/>
            <a:r>
              <a:rPr lang="en-US" sz="1600" i="1" dirty="0">
                <a:latin typeface="Tisa Offc Serif Pro" panose="02010504030101020102" pitchFamily="2" charset="0"/>
              </a:rPr>
              <a:t>Categorical features: One-hot encoding</a:t>
            </a:r>
          </a:p>
          <a:p>
            <a:r>
              <a:rPr lang="en-US" sz="1600" b="1" i="1" dirty="0">
                <a:latin typeface="Tisa Offc Serif Pro" panose="02010504030101020102" pitchFamily="2" charset="0"/>
              </a:rPr>
              <a:t>Hyperparameter tuning: </a:t>
            </a:r>
          </a:p>
          <a:p>
            <a:pPr lvl="1"/>
            <a:r>
              <a:rPr lang="en-US" sz="1600" i="1" dirty="0" err="1">
                <a:latin typeface="Tisa Offc Serif Pro" panose="02010504030101020102" pitchFamily="2" charset="0"/>
              </a:rPr>
              <a:t>GridSearchCV</a:t>
            </a:r>
            <a:r>
              <a:rPr lang="en-US" sz="1600" i="1" dirty="0">
                <a:latin typeface="Tisa Offc Serif Pro" panose="02010504030101020102" pitchFamily="2" charset="0"/>
              </a:rPr>
              <a:t> (for simpler models) and </a:t>
            </a:r>
            <a:r>
              <a:rPr lang="en-US" sz="1600" i="1" dirty="0" err="1">
                <a:latin typeface="Tisa Offc Serif Pro" panose="02010504030101020102" pitchFamily="2" charset="0"/>
              </a:rPr>
              <a:t>RandomizedSearchCV</a:t>
            </a:r>
            <a:r>
              <a:rPr lang="en-US" sz="1600" i="1" dirty="0">
                <a:latin typeface="Tisa Offc Serif Pro" panose="02010504030101020102" pitchFamily="2" charset="0"/>
              </a:rPr>
              <a:t> (for the most complicated model) with 5-fold cross-validation</a:t>
            </a:r>
            <a:endParaRPr lang="en-US" sz="1600" dirty="0">
              <a:latin typeface="Tisa Offc Serif Pro" panose="02010504030101020102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C11B-869D-D81F-C929-58CA1E537F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1908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D389-5059-8BE5-6AB6-DD6FC274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2A81-E195-5C3B-F060-D2004B0F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b="1" dirty="0"/>
              <a:t>Model Selection Rationale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9A4F9-7C10-681F-8E4C-5B7E61A6AD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3628649" cy="408390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Baseline Model: 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Tisa Offc Serif Pro" panose="02010504030101020102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Tisa Offc Serif Pro" panose="02010504030101020102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Tisa Offc Serif Pro" panose="02010504030101020102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Comparison Model 1: Support Vector Classifier (SVC)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sa Offc Serif Pro" panose="02010504030101020102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Comparison Model 2: Gradient Boosting (</a:t>
            </a:r>
            <a:r>
              <a:rPr lang="en-US" b="1" dirty="0" err="1">
                <a:latin typeface="Tisa Offc Serif Pro" panose="02010504030101020102" pitchFamily="2" charset="0"/>
              </a:rPr>
              <a:t>XGBoost</a:t>
            </a:r>
            <a:r>
              <a:rPr lang="en-US" b="1" dirty="0">
                <a:latin typeface="Tisa Offc Serif Pro" panose="02010504030101020102" pitchFamily="2" charset="0"/>
              </a:rPr>
              <a:t>)</a:t>
            </a:r>
          </a:p>
        </p:txBody>
      </p:sp>
      <p:sp>
        <p:nvSpPr>
          <p:cNvPr id="9" name="Table Placeholder 3">
            <a:extLst>
              <a:ext uri="{FF2B5EF4-FFF2-40B4-BE49-F238E27FC236}">
                <a16:creationId xmlns:a16="http://schemas.microsoft.com/office/drawing/2014/main" id="{A6135243-06AA-39D7-9920-A87B714EBB6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sa Offc Serif Pro" panose="02010504030101020102" pitchFamily="2" charset="0"/>
              </a:rPr>
              <a:t>(</a:t>
            </a:r>
            <a:r>
              <a:rPr lang="en-US" b="1" dirty="0">
                <a:latin typeface="Tisa Offc Serif Pro" panose="02010504030101020102" pitchFamily="2" charset="0"/>
              </a:rPr>
              <a:t>LR</a:t>
            </a:r>
            <a:r>
              <a:rPr lang="en-US" dirty="0">
                <a:latin typeface="Tisa Offc Serif Pro" panose="02010504030101020102" pitchFamily="2" charset="0"/>
              </a:rPr>
              <a:t>): It is well-suited for binary classification problems</a:t>
            </a:r>
          </a:p>
          <a:p>
            <a:r>
              <a:rPr lang="en-US" dirty="0">
                <a:latin typeface="Tisa Offc Serif Pro" panose="02010504030101020102" pitchFamily="2" charset="0"/>
              </a:rPr>
              <a:t>(</a:t>
            </a:r>
            <a:r>
              <a:rPr lang="en-US" b="1" dirty="0">
                <a:latin typeface="Tisa Offc Serif Pro" panose="02010504030101020102" pitchFamily="2" charset="0"/>
              </a:rPr>
              <a:t>LR</a:t>
            </a:r>
            <a:r>
              <a:rPr lang="en-US" dirty="0">
                <a:latin typeface="Tisa Offc Serif Pro" panose="02010504030101020102" pitchFamily="2" charset="0"/>
              </a:rPr>
              <a:t>): It is computationally efficient and fast to train</a:t>
            </a:r>
          </a:p>
          <a:p>
            <a:r>
              <a:rPr lang="en-US" dirty="0">
                <a:latin typeface="Tisa Offc Serif Pro" panose="02010504030101020102" pitchFamily="2" charset="0"/>
              </a:rPr>
              <a:t>(</a:t>
            </a:r>
            <a:r>
              <a:rPr lang="en-US" b="1" dirty="0">
                <a:latin typeface="Tisa Offc Serif Pro" panose="02010504030101020102" pitchFamily="2" charset="0"/>
              </a:rPr>
              <a:t>LR</a:t>
            </a:r>
            <a:r>
              <a:rPr lang="en-US" dirty="0">
                <a:latin typeface="Tisa Offc Serif Pro" panose="02010504030101020102" pitchFamily="2" charset="0"/>
              </a:rPr>
              <a:t>): It works well when there is a roughly linear relationship between features and the log-odds of the target</a:t>
            </a:r>
          </a:p>
          <a:p>
            <a:endParaRPr lang="en-US" dirty="0">
              <a:latin typeface="Tisa Offc Serif Pro" panose="02010504030101020102" pitchFamily="2" charset="0"/>
            </a:endParaRPr>
          </a:p>
          <a:p>
            <a:r>
              <a:rPr lang="en-US" b="1" dirty="0">
                <a:latin typeface="Tisa Offc Serif Pro" panose="02010504030101020102" pitchFamily="2" charset="0"/>
              </a:rPr>
              <a:t>(SVC): </a:t>
            </a:r>
            <a:r>
              <a:rPr lang="en-US" dirty="0">
                <a:latin typeface="Tisa Offc Serif Pro" panose="02010504030101020102" pitchFamily="2" charset="0"/>
              </a:rPr>
              <a:t>It can capture non-linear relationships through kernel functions (RBF kernel)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(SVC): </a:t>
            </a:r>
            <a:r>
              <a:rPr lang="en-US" dirty="0">
                <a:latin typeface="Tisa Offc Serif Pro" panose="02010504030101020102" pitchFamily="2" charset="0"/>
              </a:rPr>
              <a:t>It works well in high-dimensional spaces (important after one-hot encoding categorical features)</a:t>
            </a:r>
          </a:p>
          <a:p>
            <a:endParaRPr lang="en-US" dirty="0">
              <a:latin typeface="Tisa Offc Serif Pro" panose="02010504030101020102" pitchFamily="2" charset="0"/>
            </a:endParaRPr>
          </a:p>
          <a:p>
            <a:r>
              <a:rPr lang="en-US" b="1" dirty="0">
                <a:latin typeface="Tisa Offc Serif Pro" panose="02010504030101020102" pitchFamily="2" charset="0"/>
              </a:rPr>
              <a:t>(</a:t>
            </a:r>
            <a:r>
              <a:rPr lang="en-US" b="1" dirty="0" err="1">
                <a:latin typeface="Tisa Offc Serif Pro" panose="02010504030101020102" pitchFamily="2" charset="0"/>
              </a:rPr>
              <a:t>XGBoost</a:t>
            </a:r>
            <a:r>
              <a:rPr lang="en-US" b="1" dirty="0">
                <a:latin typeface="Tisa Offc Serif Pro" panose="02010504030101020102" pitchFamily="2" charset="0"/>
              </a:rPr>
              <a:t>): </a:t>
            </a:r>
            <a:r>
              <a:rPr lang="en-US" dirty="0">
                <a:latin typeface="Tisa Offc Serif Pro" panose="02010504030101020102" pitchFamily="2" charset="0"/>
              </a:rPr>
              <a:t>It automatically captures feature interactions and non-linear relationships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(</a:t>
            </a:r>
            <a:r>
              <a:rPr lang="en-US" b="1" dirty="0" err="1">
                <a:latin typeface="Tisa Offc Serif Pro" panose="02010504030101020102" pitchFamily="2" charset="0"/>
              </a:rPr>
              <a:t>XGBoost</a:t>
            </a:r>
            <a:r>
              <a:rPr lang="en-US" b="1" dirty="0">
                <a:latin typeface="Tisa Offc Serif Pro" panose="02010504030101020102" pitchFamily="2" charset="0"/>
              </a:rPr>
              <a:t>): </a:t>
            </a:r>
            <a:r>
              <a:rPr lang="en-US" dirty="0">
                <a:latin typeface="Tisa Offc Serif Pro" panose="02010504030101020102" pitchFamily="2" charset="0"/>
              </a:rPr>
              <a:t>It handles missing values and outliers well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D6BF5A6-2C6F-0260-6141-526F561343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9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A2E8-1FDC-743B-94FC-4C5C5E07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9C89-952E-53CE-3E28-35E8F001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Tisa Offc Serif Pro" panose="02010504030101020102" pitchFamily="2" charset="0"/>
              </a:rPr>
              <a:t>Model Evaluation and Selection</a:t>
            </a:r>
          </a:p>
        </p:txBody>
      </p:sp>
    </p:spTree>
    <p:extLst>
      <p:ext uri="{BB962C8B-B14F-4D97-AF65-F5344CB8AC3E}">
        <p14:creationId xmlns:p14="http://schemas.microsoft.com/office/powerpoint/2010/main" val="159094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DA36C-30FC-FC40-4DAA-49857BCC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0242-8908-55C7-4109-9E77A52AD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Logistic Regression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CA4B5AD-BA25-5409-A9BD-9E1D91F2B8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17651BE-D609-6278-E72C-4AA1474BA8EB}"/>
              </a:ext>
            </a:extLst>
          </p:cNvPr>
          <p:cNvPicPr>
            <a:picLocks noGrp="1" noChangeAspect="1" noChangeArrowheads="1"/>
          </p:cNvPicPr>
          <p:nvPr>
            <p:ph type="tbl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169" y="2056606"/>
            <a:ext cx="4246747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8D93E8CA-4607-1162-B9BD-BDF511F98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892" y="2056606"/>
            <a:ext cx="4246747" cy="287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5DB585-E42B-D472-A4C2-2AE1E14EA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20016"/>
              </p:ext>
            </p:extLst>
          </p:nvPr>
        </p:nvGraphicFramePr>
        <p:xfrm>
          <a:off x="998873" y="2056606"/>
          <a:ext cx="232732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63660">
                  <a:extLst>
                    <a:ext uri="{9D8B030D-6E8A-4147-A177-3AD203B41FA5}">
                      <a16:colId xmlns:a16="http://schemas.microsoft.com/office/drawing/2014/main" val="915269351"/>
                    </a:ext>
                  </a:extLst>
                </a:gridCol>
                <a:gridCol w="1163660">
                  <a:extLst>
                    <a:ext uri="{9D8B030D-6E8A-4147-A177-3AD203B41FA5}">
                      <a16:colId xmlns:a16="http://schemas.microsoft.com/office/drawing/2014/main" val="3493542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73.68%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33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82.18%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1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72.17%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52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76.85%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3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608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2F75-4D11-5BE1-3184-837D6943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3778572B-9AEF-7E70-54D8-CBF312CDE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90" y="2066543"/>
            <a:ext cx="4246704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8B177-0079-5046-4D42-902DDE52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Support Vector Classifier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2090FAF-0CE3-FCB5-8EF6-871A7B4AD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61E2AA65-0093-135C-4680-50074C8B8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894" y="2066544"/>
            <a:ext cx="4246746" cy="287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FB71FD-86FC-5625-8419-D684350C0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915746"/>
              </p:ext>
            </p:extLst>
          </p:nvPr>
        </p:nvGraphicFramePr>
        <p:xfrm>
          <a:off x="1012870" y="2066542"/>
          <a:ext cx="232732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63660">
                  <a:extLst>
                    <a:ext uri="{9D8B030D-6E8A-4147-A177-3AD203B41FA5}">
                      <a16:colId xmlns:a16="http://schemas.microsoft.com/office/drawing/2014/main" val="915269351"/>
                    </a:ext>
                  </a:extLst>
                </a:gridCol>
                <a:gridCol w="1163660">
                  <a:extLst>
                    <a:ext uri="{9D8B030D-6E8A-4147-A177-3AD203B41FA5}">
                      <a16:colId xmlns:a16="http://schemas.microsoft.com/office/drawing/2014/main" val="3493542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74.74%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33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81.90%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1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74.78%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52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78.18%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3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428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58D5-4B09-17F4-927F-0B6A2A3C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A691EB7A-3588-DF65-4255-396C402F9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894" y="2066543"/>
            <a:ext cx="4246704" cy="293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A33F7702-B5E7-CBC2-5ABC-3B04AAA98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90" y="2066543"/>
            <a:ext cx="4246704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ED5D97-72E6-0467-CF4F-79D90B2D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sa Offc Serif Pro" panose="02010504030101020102" pitchFamily="2" charset="0"/>
              </a:rPr>
              <a:t>Gradient Boosting Classifier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7DF49DB-8E7E-7694-C4EA-420FCBBA7A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9F4FFB-8B76-8464-A2A9-401E345B4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25228"/>
              </p:ext>
            </p:extLst>
          </p:nvPr>
        </p:nvGraphicFramePr>
        <p:xfrm>
          <a:off x="1012870" y="2066543"/>
          <a:ext cx="232732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63660">
                  <a:extLst>
                    <a:ext uri="{9D8B030D-6E8A-4147-A177-3AD203B41FA5}">
                      <a16:colId xmlns:a16="http://schemas.microsoft.com/office/drawing/2014/main" val="915269351"/>
                    </a:ext>
                  </a:extLst>
                </a:gridCol>
                <a:gridCol w="1163660">
                  <a:extLst>
                    <a:ext uri="{9D8B030D-6E8A-4147-A177-3AD203B41FA5}">
                      <a16:colId xmlns:a16="http://schemas.microsoft.com/office/drawing/2014/main" val="3493542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73.68%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33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82.18%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1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72.17%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52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76.85%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3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05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74AF-583C-B719-B20B-B7D42136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Model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47BE1-3CBB-AC4E-5343-8163906EA2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4802777" cy="3867538"/>
          </a:xfrm>
        </p:spPr>
        <p:txBody>
          <a:bodyPr>
            <a:normAutofit/>
          </a:bodyPr>
          <a:lstStyle/>
          <a:p>
            <a:r>
              <a:rPr lang="en-US" dirty="0">
                <a:latin typeface="Tisa Offc Serif Pro" panose="02010504030101020102" pitchFamily="2" charset="0"/>
              </a:rPr>
              <a:t>Based on test-set performance, the model with the highest F1 score is selected. </a:t>
            </a:r>
          </a:p>
          <a:p>
            <a:r>
              <a:rPr lang="en-US" dirty="0">
                <a:latin typeface="Tisa Offc Serif Pro" panose="02010504030101020102" pitchFamily="2" charset="0"/>
              </a:rPr>
              <a:t>The models will be ranked in terms of complexity as follows: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Logistic Regression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Support Vector Classifier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Gradient Boosting Classifier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E1F28-9F8C-6E29-BB51-95CABC6B27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3CAF1-1419-0D9D-71F7-90B2680F329A}"/>
              </a:ext>
            </a:extLst>
          </p:cNvPr>
          <p:cNvSpPr txBox="1"/>
          <p:nvPr/>
        </p:nvSpPr>
        <p:spPr>
          <a:xfrm>
            <a:off x="7969310" y="2147398"/>
            <a:ext cx="3091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sa Offc Serif Pro" panose="02010504030101020102" pitchFamily="2" charset="0"/>
              </a:rPr>
              <a:t>Support Vector Classifier</a:t>
            </a:r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AD172A09-FF52-EF56-52D2-AADC42BAA996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212309145"/>
              </p:ext>
            </p:extLst>
          </p:nvPr>
        </p:nvGraphicFramePr>
        <p:xfrm>
          <a:off x="7969310" y="2673057"/>
          <a:ext cx="232732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63660">
                  <a:extLst>
                    <a:ext uri="{9D8B030D-6E8A-4147-A177-3AD203B41FA5}">
                      <a16:colId xmlns:a16="http://schemas.microsoft.com/office/drawing/2014/main" val="915269351"/>
                    </a:ext>
                  </a:extLst>
                </a:gridCol>
                <a:gridCol w="1163660">
                  <a:extLst>
                    <a:ext uri="{9D8B030D-6E8A-4147-A177-3AD203B41FA5}">
                      <a16:colId xmlns:a16="http://schemas.microsoft.com/office/drawing/2014/main" val="3493542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1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74.74%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33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81.90%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1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sa Offc Serif Pro" panose="02010504030101020102" pitchFamily="2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74.78%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52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sa Offc Serif Pro" panose="02010504030101020102" pitchFamily="2" charset="0"/>
                        </a:rPr>
                        <a:t>78.18%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3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FBBE-B880-A884-1ECB-92CAA2EC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9C7E8-BBA4-60D4-2397-6E3E3F4E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b="1" dirty="0"/>
              <a:t>Business Metrics</a:t>
            </a:r>
          </a:p>
        </p:txBody>
      </p:sp>
    </p:spTree>
    <p:extLst>
      <p:ext uri="{BB962C8B-B14F-4D97-AF65-F5344CB8AC3E}">
        <p14:creationId xmlns:p14="http://schemas.microsoft.com/office/powerpoint/2010/main" val="2354799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C7A7-781B-3A3D-CF45-AD8BF809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Cost-Benefit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D406-68FC-D1C1-CA94-071F3C5C40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4" y="1603744"/>
            <a:ext cx="9808772" cy="3867538"/>
          </a:xfrm>
        </p:spPr>
        <p:txBody>
          <a:bodyPr>
            <a:normAutofit/>
          </a:bodyPr>
          <a:lstStyle/>
          <a:p>
            <a:r>
              <a:rPr lang="en-US" b="1" dirty="0"/>
              <a:t>True Positive (Correct high-traffic prediction):</a:t>
            </a:r>
            <a:r>
              <a:rPr lang="en-US" dirty="0"/>
              <a:t> Business promotes the recipe and gains traffic/revenue. </a:t>
            </a:r>
          </a:p>
          <a:p>
            <a:r>
              <a:rPr lang="en-US" b="1" dirty="0"/>
              <a:t>False Positive (Incorrectly predict high traffic):</a:t>
            </a:r>
            <a:r>
              <a:rPr lang="en-US" dirty="0"/>
              <a:t> Business wastes resources promoting a low-traffic recipe. </a:t>
            </a:r>
          </a:p>
          <a:p>
            <a:r>
              <a:rPr lang="en-US" b="1" dirty="0"/>
              <a:t>True Negative (Correct low-traffic prediction):</a:t>
            </a:r>
            <a:r>
              <a:rPr lang="en-US" dirty="0"/>
              <a:t> Business correctly avoids promoting low-traffic recipe. </a:t>
            </a:r>
          </a:p>
          <a:p>
            <a:r>
              <a:rPr lang="en-US" b="1" dirty="0"/>
              <a:t>False Negative (Miss a high-traffic recipe):</a:t>
            </a:r>
            <a:r>
              <a:rPr lang="en-US" dirty="0"/>
              <a:t> Business misses opportunity to promote popular recipe.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A2B7B-39DC-7645-F909-85BAC0770E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E8889-A03C-B2A5-DE76-100360A57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13" y="4939614"/>
            <a:ext cx="9735394" cy="62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37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0371-60B4-047C-1297-26A6043735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3" y="1064871"/>
            <a:ext cx="9793353" cy="486939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sa Offc Serif Pro" panose="02010504030101020102" pitchFamily="2" charset="0"/>
              </a:rPr>
              <a:t>Logistic Regression:</a:t>
            </a:r>
          </a:p>
          <a:p>
            <a:pPr lvl="1">
              <a:buFontTx/>
              <a:buChar char="-"/>
            </a:pPr>
            <a:r>
              <a:rPr lang="en-US" dirty="0">
                <a:latin typeface="Tisa Offc Serif Pro" panose="02010504030101020102" pitchFamily="2" charset="0"/>
              </a:rPr>
              <a:t>ROI = (83 × $100) + (18 × -$20) + (32 × -$80) + (57 × $0)= $8,300 - $360 - $2,560 + $0= $5,380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SVC:</a:t>
            </a:r>
          </a:p>
          <a:p>
            <a:pPr lvl="1">
              <a:buFontTx/>
              <a:buChar char="-"/>
            </a:pPr>
            <a:r>
              <a:rPr lang="en-US" dirty="0">
                <a:latin typeface="Tisa Offc Serif Pro" panose="02010504030101020102" pitchFamily="2" charset="0"/>
              </a:rPr>
              <a:t>ROI = (86 × $100) + (19 × -$20) + (29 × -$80) + (56 × $0)= $8,600 - $380 - $2,320 + $0= $5,900</a:t>
            </a:r>
          </a:p>
          <a:p>
            <a:pPr lvl="1">
              <a:buFontTx/>
              <a:buChar char="-"/>
            </a:pPr>
            <a:r>
              <a:rPr lang="en-US" dirty="0">
                <a:latin typeface="Tisa Offc Serif Pro" panose="02010504030101020102" pitchFamily="2" charset="0"/>
              </a:rPr>
              <a:t>Compared with Logistic Regression, SVC yields a </a:t>
            </a:r>
            <a:r>
              <a:rPr lang="en-US" i="1" dirty="0">
                <a:latin typeface="Tisa Offc Serif Pro" panose="02010504030101020102" pitchFamily="2" charset="0"/>
              </a:rPr>
              <a:t>higher ROI</a:t>
            </a:r>
            <a:r>
              <a:rPr lang="en-US" dirty="0">
                <a:latin typeface="Tisa Offc Serif Pro" panose="02010504030101020102" pitchFamily="2" charset="0"/>
              </a:rPr>
              <a:t>, providing </a:t>
            </a:r>
            <a:r>
              <a:rPr lang="en-US" b="1" dirty="0">
                <a:latin typeface="Tisa Offc Serif Pro" panose="02010504030101020102" pitchFamily="2" charset="0"/>
              </a:rPr>
              <a:t>better business value</a:t>
            </a:r>
            <a:r>
              <a:rPr lang="en-US" dirty="0">
                <a:latin typeface="Tisa Offc Serif Pro" panose="02010504030101020102" pitchFamily="2" charset="0"/>
              </a:rPr>
              <a:t>.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Gradient Boosting Classifier (</a:t>
            </a:r>
            <a:r>
              <a:rPr lang="en-US" b="1" dirty="0" err="1">
                <a:latin typeface="Tisa Offc Serif Pro" panose="02010504030101020102" pitchFamily="2" charset="0"/>
              </a:rPr>
              <a:t>XGBoost</a:t>
            </a:r>
            <a:r>
              <a:rPr lang="en-US" b="1" dirty="0">
                <a:latin typeface="Tisa Offc Serif Pro" panose="02010504030101020102" pitchFamily="2" charset="0"/>
              </a:rPr>
              <a:t>):</a:t>
            </a:r>
          </a:p>
          <a:p>
            <a:pPr lvl="1">
              <a:buFontTx/>
              <a:buChar char="-"/>
            </a:pPr>
            <a:r>
              <a:rPr lang="en-US" dirty="0">
                <a:latin typeface="Tisa Offc Serif Pro" panose="02010504030101020102" pitchFamily="2" charset="0"/>
              </a:rPr>
              <a:t>ROI = (82 × $100) + (18 × -$20) + (33 × -$80) + (57 × $0)= $8,400 - $360 - $2,640 + $0= $5,200</a:t>
            </a:r>
          </a:p>
          <a:p>
            <a:pPr lvl="1">
              <a:buFontTx/>
              <a:buChar char="-"/>
            </a:pPr>
            <a:r>
              <a:rPr lang="en-US" dirty="0" err="1">
                <a:latin typeface="Tisa Offc Serif Pro" panose="02010504030101020102" pitchFamily="2" charset="0"/>
              </a:rPr>
              <a:t>XGBoost</a:t>
            </a:r>
            <a:r>
              <a:rPr lang="en-US" dirty="0">
                <a:latin typeface="Tisa Offc Serif Pro" panose="02010504030101020102" pitchFamily="2" charset="0"/>
              </a:rPr>
              <a:t> has a lower ROI than both SVC and Logistic Regression.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43B12-2EA6-BDED-1631-8AD8FD9F33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8AAC-69BC-2A4B-2334-1254D7B2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Summary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EAC5-A5E9-1956-6588-A60EAA79FA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3" y="2066731"/>
            <a:ext cx="9808773" cy="38675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sa Offc Serif Pro" panose="02010504030101020102" pitchFamily="2" charset="0"/>
              </a:rPr>
              <a:t>After a comprehensive evaluation, the </a:t>
            </a:r>
            <a:r>
              <a:rPr lang="en-US" b="1" dirty="0">
                <a:latin typeface="Tisa Offc Serif Pro" panose="02010504030101020102" pitchFamily="2" charset="0"/>
              </a:rPr>
              <a:t>Support Vector Classifier (SVC)</a:t>
            </a:r>
            <a:r>
              <a:rPr lang="en-US" dirty="0">
                <a:latin typeface="Tisa Offc Serif Pro" panose="02010504030101020102" pitchFamily="2" charset="0"/>
              </a:rPr>
              <a:t> achieved the best performance with:</a:t>
            </a:r>
          </a:p>
          <a:p>
            <a:r>
              <a:rPr lang="en-US" dirty="0">
                <a:latin typeface="Tisa Offc Serif Pro" panose="02010504030101020102" pitchFamily="2" charset="0"/>
              </a:rPr>
              <a:t>This model successfully predicts recipe traffic with 74.74% accuracy, significantly outperforming the baseline accuracy of 60% (majority class prediction). Further, the model satisfies the task assignment with 81.90% precision, meaning it can predict a high-traffic recipe above the required threshold of 80%.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Business Recommendations:</a:t>
            </a:r>
          </a:p>
          <a:p>
            <a:pPr marL="457200" indent="-457200"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Content Strategy</a:t>
            </a:r>
          </a:p>
          <a:p>
            <a:pPr marL="457200" indent="-457200"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Resource Allocation</a:t>
            </a:r>
          </a:p>
          <a:p>
            <a:pPr marL="457200" indent="-457200"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Content Optimization</a:t>
            </a:r>
          </a:p>
          <a:p>
            <a:pPr marL="457200" indent="-457200">
              <a:buAutoNum type="arabicPeriod"/>
            </a:pPr>
            <a:r>
              <a:rPr lang="en-US" dirty="0">
                <a:latin typeface="Tisa Offc Serif Pro" panose="02010504030101020102" pitchFamily="2" charset="0"/>
              </a:rPr>
              <a:t>Continuous Improvement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D65E8-5A90-316F-C081-5878D90629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7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Dr. Anoushiravan Zahedi</a:t>
            </a:r>
          </a:p>
          <a:p>
            <a:r>
              <a:rPr lang="en-US" dirty="0"/>
              <a:t>anoushiravanzahedi@gmail.com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{4140F15E-8283-41DA-8B2E-9CE58A7F7CBE}TF3977e381-cba5-49b1-ba43-b5d865517af907ebbda9_win32-372d4d6ae720</Template>
  <TotalTime>543</TotalTime>
  <Words>1187</Words>
  <Application>Microsoft Macintosh PowerPoint</Application>
  <PresentationFormat>Widescreen</PresentationFormat>
  <Paragraphs>183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Tisa Offc Serif Pro</vt:lpstr>
      <vt:lpstr>Univers Light</vt:lpstr>
      <vt:lpstr>Custom</vt:lpstr>
      <vt:lpstr>Data Scientist Professional Practical Exam Presentation  Dr. Anoushiravan Zahedi</vt:lpstr>
      <vt:lpstr>Tasty Bytes</vt:lpstr>
      <vt:lpstr>Data Validation</vt:lpstr>
      <vt:lpstr>Columns</vt:lpstr>
      <vt:lpstr>Exploratory analysis</vt:lpstr>
      <vt:lpstr>High Traffic Distribution (Count Plot)</vt:lpstr>
      <vt:lpstr>Numerical Feature Distributions (Histograms)</vt:lpstr>
      <vt:lpstr>Correlation Heatmap</vt:lpstr>
      <vt:lpstr>Numerical Features vs. High Traffic</vt:lpstr>
      <vt:lpstr>Categorical Feature Distributions and  Categorical Features vs. High Traffic</vt:lpstr>
      <vt:lpstr>Categorical Feature Distributions and  Categorical Features vs. High Traffic</vt:lpstr>
      <vt:lpstr>Model Development</vt:lpstr>
      <vt:lpstr>PowerPoint Presentation</vt:lpstr>
      <vt:lpstr>Model Selection Rationale</vt:lpstr>
      <vt:lpstr>Model Evaluation and Selection</vt:lpstr>
      <vt:lpstr>Logistic Regression</vt:lpstr>
      <vt:lpstr>Support Vector Classifier</vt:lpstr>
      <vt:lpstr>Gradient Boosting Classifier</vt:lpstr>
      <vt:lpstr>Best Model Selection</vt:lpstr>
      <vt:lpstr>Business Metrics</vt:lpstr>
      <vt:lpstr>Cost-Benefit Analysis</vt:lpstr>
      <vt:lpstr>PowerPoint Presentation</vt:lpstr>
      <vt:lpstr>Final Summary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Anoushiravan Zahedi</dc:creator>
  <cp:lastModifiedBy>anoushiravan zahedi</cp:lastModifiedBy>
  <cp:revision>25</cp:revision>
  <dcterms:created xsi:type="dcterms:W3CDTF">2025-08-07T09:13:18Z</dcterms:created>
  <dcterms:modified xsi:type="dcterms:W3CDTF">2026-01-01T11:00:53Z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